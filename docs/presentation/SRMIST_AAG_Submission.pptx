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gQuomGbdS/wh2yqkB/K4YAZ70YA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" name="Google Shape;87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9" name="Google Shape;159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Closing slide. Add the Google Form URL and a contact email before sharing. Edition 2 organising team for reference: Language AI - Sourabh Tiwari, Gaurav, Sanjeeth Pothireddy, Gorang Maniar; PRISM - Binny Lakra, Prakhar Chandrakar, Vishu Kumar; Kick-off and mentors - Giridhar Jakki, Deepraj Prabhakar Patkar (Language AI), Srimanu Prasad Nagaraju, Ashish Kumar (Tech Strategy).</a:t>
            </a:r>
            <a:endParaRPr/>
          </a:p>
        </p:txBody>
      </p:sp>
      <p:sp>
        <p:nvSpPr>
          <p:cNvPr id="160" name="Google Shape;160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" name="Google Shape;19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6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6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5" name="Google Shape;25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7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7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1" name="Google Shape;3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8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9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9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4" name="Google Shape;44;p19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1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6" name="Google Shape;46;p19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2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2" name="Google Shape;62;p22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3" name="Google Shape;63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3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23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0" name="Google Shape;7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4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5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25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2" name="Google Shape;82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github.com/abhasbali/samsung-hackathon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5LdTcgO6PW4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/>
          <p:nvPr/>
        </p:nvSpPr>
        <p:spPr>
          <a:xfrm>
            <a:off x="777240" y="676656"/>
            <a:ext cx="242316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 cap="flat" cmpd="sng">
            <a:solidFill>
              <a:srgbClr val="D9D3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1"/>
          <p:cNvSpPr txBox="1"/>
          <p:nvPr/>
        </p:nvSpPr>
        <p:spPr>
          <a:xfrm>
            <a:off x="777240" y="676656"/>
            <a:ext cx="24231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SAMSUNG PRISM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777240" y="1207008"/>
            <a:ext cx="612648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5000"/>
              <a:buFont typeface="Arial"/>
              <a:buNone/>
            </a:pPr>
            <a:r>
              <a:rPr lang="en-US" sz="5000" b="1" i="0" u="none" strike="noStrike" cap="none">
                <a:solidFill>
                  <a:srgbClr val="14142B"/>
                </a:solidFill>
                <a:latin typeface="Arial"/>
                <a:ea typeface="Arial"/>
                <a:cs typeface="Arial"/>
                <a:sym typeface="Arial"/>
              </a:rPr>
              <a:t>Generative AI</a:t>
            </a:r>
            <a:endParaRPr sz="5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777240" y="1901952"/>
            <a:ext cx="612648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5000"/>
              <a:buFont typeface="Arial"/>
              <a:buNone/>
            </a:pPr>
            <a:r>
              <a:rPr lang="en-US" sz="5000" b="1" i="0" u="none" strike="noStrike" cap="non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Hackathon</a:t>
            </a:r>
            <a:endParaRPr sz="5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777240" y="2724912"/>
            <a:ext cx="61264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2500"/>
              <a:buFont typeface="Arial"/>
              <a:buNone/>
            </a:pPr>
            <a:r>
              <a:rPr lang="en-US" sz="2500" b="1" i="0" u="none" strike="noStrike" cap="none">
                <a:solidFill>
                  <a:srgbClr val="14142B"/>
                </a:solidFill>
                <a:latin typeface="Arial"/>
                <a:ea typeface="Arial"/>
                <a:cs typeface="Arial"/>
                <a:sym typeface="Arial"/>
              </a:rPr>
              <a:t>3rd Edition</a:t>
            </a:r>
            <a:r>
              <a:rPr lang="en-US" sz="2000" b="0" i="0" u="none" strike="noStrike" cap="non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   2026 – 27</a:t>
            </a:r>
            <a:endParaRPr sz="2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777240" y="3310128"/>
            <a:ext cx="5852160" cy="3054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sz="1500" dirty="0">
                <a:solidFill>
                  <a:srgbClr val="5C5D70"/>
                </a:solidFill>
                <a:latin typeface="Aptos"/>
              </a:rPr>
              <a:t>Theme ID -</a:t>
            </a:r>
            <a:r>
              <a:rPr lang="en-IN" sz="1500" dirty="0">
                <a:solidFill>
                  <a:srgbClr val="5C5D70"/>
                </a:solidFill>
                <a:latin typeface="Aptos"/>
              </a:rPr>
              <a:t> 1</a:t>
            </a:r>
            <a:endParaRPr sz="1500" dirty="0">
              <a:solidFill>
                <a:srgbClr val="5C5D70"/>
              </a:solidFill>
              <a:latin typeface="Aptos"/>
            </a:endParaRPr>
          </a:p>
          <a:p>
            <a:r>
              <a:rPr sz="1500" dirty="0">
                <a:solidFill>
                  <a:srgbClr val="5C5D70"/>
                </a:solidFill>
                <a:latin typeface="Aptos"/>
              </a:rPr>
              <a:t>Team Name -</a:t>
            </a:r>
            <a:r>
              <a:rPr lang="en-IN" sz="1500" dirty="0">
                <a:solidFill>
                  <a:srgbClr val="5C5D70"/>
                </a:solidFill>
                <a:latin typeface="Aptos"/>
              </a:rPr>
              <a:t> AAG</a:t>
            </a:r>
            <a:endParaRPr sz="1500" dirty="0">
              <a:solidFill>
                <a:srgbClr val="5C5D70"/>
              </a:solidFill>
              <a:latin typeface="Aptos"/>
            </a:endParaRPr>
          </a:p>
          <a:p>
            <a:r>
              <a:rPr sz="1500" dirty="0">
                <a:solidFill>
                  <a:srgbClr val="5C5D70"/>
                </a:solidFill>
                <a:latin typeface="Aptos"/>
              </a:rPr>
              <a:t>College Name - SRM Institute of Science and Technology</a:t>
            </a:r>
          </a:p>
          <a:p>
            <a:r>
              <a:rPr sz="1500" dirty="0">
                <a:solidFill>
                  <a:srgbClr val="5C5D70"/>
                </a:solidFill>
                <a:latin typeface="Aptos"/>
              </a:rPr>
              <a:t>Member Name &amp; Email 1- </a:t>
            </a:r>
            <a:r>
              <a:rPr lang="en-IN" sz="1500" dirty="0" err="1">
                <a:solidFill>
                  <a:srgbClr val="5C5D70"/>
                </a:solidFill>
                <a:latin typeface="Aptos"/>
              </a:rPr>
              <a:t>Garvit</a:t>
            </a:r>
            <a:r>
              <a:rPr lang="en-IN" sz="1500" dirty="0">
                <a:solidFill>
                  <a:srgbClr val="5C5D70"/>
                </a:solidFill>
                <a:latin typeface="Aptos"/>
              </a:rPr>
              <a:t> Saini &amp; gs1738@srmist.edu.in</a:t>
            </a:r>
            <a:endParaRPr sz="1500" dirty="0">
              <a:solidFill>
                <a:srgbClr val="5C5D70"/>
              </a:solidFill>
              <a:latin typeface="Aptos"/>
            </a:endParaRPr>
          </a:p>
          <a:p>
            <a:r>
              <a:rPr sz="1500" dirty="0">
                <a:solidFill>
                  <a:srgbClr val="5C5D70"/>
                </a:solidFill>
                <a:latin typeface="Aptos"/>
              </a:rPr>
              <a:t>Member Name &amp; Email 2-</a:t>
            </a:r>
            <a:r>
              <a:rPr lang="en-IN" sz="1500" dirty="0">
                <a:solidFill>
                  <a:srgbClr val="5C5D70"/>
                </a:solidFill>
                <a:latin typeface="Aptos"/>
              </a:rPr>
              <a:t> </a:t>
            </a:r>
            <a:r>
              <a:rPr lang="en-IN" sz="1500" dirty="0" err="1">
                <a:solidFill>
                  <a:srgbClr val="5C5D70"/>
                </a:solidFill>
                <a:latin typeface="Aptos"/>
              </a:rPr>
              <a:t>Abhas</a:t>
            </a:r>
            <a:r>
              <a:rPr lang="en-IN" sz="1500" dirty="0">
                <a:solidFill>
                  <a:srgbClr val="5C5D70"/>
                </a:solidFill>
                <a:latin typeface="Aptos"/>
              </a:rPr>
              <a:t> Bali &amp; ab9266@srmist.edu.in</a:t>
            </a:r>
            <a:endParaRPr sz="1500" dirty="0">
              <a:solidFill>
                <a:srgbClr val="5C5D70"/>
              </a:solidFill>
              <a:latin typeface="Aptos"/>
            </a:endParaRPr>
          </a:p>
          <a:p>
            <a:r>
              <a:rPr sz="1500" dirty="0">
                <a:solidFill>
                  <a:srgbClr val="5C5D70"/>
                </a:solidFill>
                <a:latin typeface="Aptos"/>
              </a:rPr>
              <a:t>Member Name &amp; Email 3-</a:t>
            </a:r>
            <a:r>
              <a:rPr lang="en-IN" sz="1500" dirty="0">
                <a:solidFill>
                  <a:srgbClr val="5C5D70"/>
                </a:solidFill>
                <a:latin typeface="Aptos"/>
              </a:rPr>
              <a:t> Ankit Jain &amp; aj6012@srmist.edu.in</a:t>
            </a:r>
            <a:endParaRPr sz="1500" dirty="0">
              <a:solidFill>
                <a:srgbClr val="5C5D70"/>
              </a:solidFill>
              <a:latin typeface="Aptos"/>
            </a:endParaRPr>
          </a:p>
          <a:p>
            <a:r>
              <a:rPr sz="1500" dirty="0">
                <a:solidFill>
                  <a:srgbClr val="5C5D70"/>
                </a:solidFill>
                <a:latin typeface="Aptos"/>
              </a:rPr>
              <a:t>Submission </a:t>
            </a:r>
            <a:r>
              <a:rPr sz="1500" dirty="0" err="1">
                <a:solidFill>
                  <a:srgbClr val="5C5D70"/>
                </a:solidFill>
                <a:latin typeface="Aptos"/>
              </a:rPr>
              <a:t>Github</a:t>
            </a:r>
            <a:r>
              <a:rPr sz="1500" dirty="0">
                <a:solidFill>
                  <a:srgbClr val="5C5D70"/>
                </a:solidFill>
                <a:latin typeface="Aptos"/>
              </a:rPr>
              <a:t> link - </a:t>
            </a:r>
            <a:r>
              <a:rPr sz="1500" dirty="0">
                <a:solidFill>
                  <a:srgbClr val="5C5D70"/>
                </a:solidFill>
                <a:latin typeface="Aptos"/>
                <a:hlinkClick r:id="rId3" action="ppaction://hlinkfile"/>
              </a:rPr>
              <a:t>github.com/</a:t>
            </a:r>
            <a:r>
              <a:rPr sz="1500" dirty="0" err="1">
                <a:solidFill>
                  <a:srgbClr val="5C5D70"/>
                </a:solidFill>
                <a:latin typeface="Aptos"/>
                <a:hlinkClick r:id="rId3" action="ppaction://hlinkfile"/>
              </a:rPr>
              <a:t>abhasbali</a:t>
            </a:r>
            <a:r>
              <a:rPr sz="1500" dirty="0">
                <a:solidFill>
                  <a:srgbClr val="5C5D70"/>
                </a:solidFill>
                <a:latin typeface="Aptos"/>
                <a:hlinkClick r:id="rId3" action="ppaction://hlinkfile"/>
              </a:rPr>
              <a:t>/</a:t>
            </a:r>
            <a:r>
              <a:rPr sz="1500" dirty="0" err="1">
                <a:solidFill>
                  <a:srgbClr val="5C5D70"/>
                </a:solidFill>
                <a:latin typeface="Aptos"/>
                <a:hlinkClick r:id="rId3" action="ppaction://hlinkfile"/>
              </a:rPr>
              <a:t>samsung</a:t>
            </a:r>
            <a:r>
              <a:rPr sz="1500" dirty="0">
                <a:solidFill>
                  <a:srgbClr val="5C5D70"/>
                </a:solidFill>
                <a:latin typeface="Aptos"/>
                <a:hlinkClick r:id="rId3" action="ppaction://hlinkfile"/>
              </a:rPr>
              <a:t>-hackathon</a:t>
            </a:r>
            <a:endParaRPr sz="1500" dirty="0">
              <a:solidFill>
                <a:srgbClr val="5C5D70"/>
              </a:solidFill>
              <a:latin typeface="Aptos"/>
            </a:endParaRPr>
          </a:p>
        </p:txBody>
      </p:sp>
      <p:pic>
        <p:nvPicPr>
          <p:cNvPr id="96" name="Google Shape;96;p1" descr="hero_network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059168" y="1051560"/>
            <a:ext cx="4572000" cy="457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b="1" dirty="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Theme</a:t>
            </a:r>
            <a:endParaRPr dirty="0"/>
          </a:p>
        </p:txBody>
      </p:sp>
      <p:sp>
        <p:nvSpPr>
          <p:cNvPr id="103" name="TextBox 102"/>
          <p:cNvSpPr txBox="1"/>
          <p:nvPr/>
        </p:nvSpPr>
        <p:spPr>
          <a:xfrm>
            <a:off x="822960" y="1417320"/>
            <a:ext cx="3657600" cy="50292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2800" b="1">
                <a:solidFill>
                  <a:srgbClr val="6624DC"/>
                </a:solidFill>
                <a:latin typeface="Aptos"/>
              </a:rPr>
              <a:t>CodeFusion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22960" y="1965960"/>
            <a:ext cx="10058400" cy="6858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2200" b="1" dirty="0">
                <a:solidFill>
                  <a:srgbClr val="181930"/>
                </a:solidFill>
                <a:latin typeface="Aptos"/>
              </a:rPr>
              <a:t>Code-intelligence retrieval for natural-language questions over codebases.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22960" y="2788920"/>
            <a:ext cx="10424160" cy="2743200"/>
          </a:xfrm>
          <a:prstGeom prst="rect">
            <a:avLst/>
          </a:prstGeom>
          <a:noFill/>
        </p:spPr>
        <p:txBody>
          <a:bodyPr wrap="square" lIns="76200" rIns="76200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81930"/>
                </a:solidFill>
                <a:latin typeface="Aptos"/>
              </a:defRPr>
            </a:pPr>
            <a:r>
              <a:rPr dirty="0"/>
              <a:t>• Input: a natural-language code question and a repository.</a:t>
            </a:r>
          </a:p>
          <a:p>
            <a:pPr>
              <a:spcAft>
                <a:spcPts val="1200"/>
              </a:spcAft>
              <a:defRPr sz="1800">
                <a:solidFill>
                  <a:srgbClr val="181930"/>
                </a:solidFill>
                <a:latin typeface="Aptos"/>
              </a:defRPr>
            </a:pPr>
            <a:r>
              <a:rPr dirty="0"/>
              <a:t>• Output: a ranked list of real, relevant code snippets — not generated answers.</a:t>
            </a:r>
          </a:p>
          <a:p>
            <a:pPr>
              <a:spcAft>
                <a:spcPts val="1200"/>
              </a:spcAft>
              <a:defRPr sz="1800">
                <a:solidFill>
                  <a:srgbClr val="181930"/>
                </a:solidFill>
                <a:latin typeface="Aptos"/>
              </a:defRPr>
            </a:pPr>
            <a:r>
              <a:rPr dirty="0"/>
              <a:t>• Priorities: retrieval accuracy, retrieval across versions, and evolutionary code search.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b="1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Existing Solutions &amp; Gaps</a:t>
            </a:r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822960" y="1417320"/>
            <a:ext cx="10424160" cy="4846320"/>
          </a:xfrm>
          <a:prstGeom prst="rect">
            <a:avLst/>
          </a:prstGeom>
          <a:noFill/>
        </p:spPr>
        <p:txBody>
          <a:bodyPr wrap="square" lIns="76200" rIns="76200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81930"/>
                </a:solidFill>
                <a:latin typeface="Aptos"/>
              </a:defRPr>
            </a:pPr>
            <a:r>
              <a:t>• Generic RAG can split functions across fixed token windows.</a:t>
            </a:r>
          </a:p>
          <a:p>
            <a:pPr>
              <a:spcAft>
                <a:spcPts val="1200"/>
              </a:spcAft>
              <a:defRPr sz="1800">
                <a:solidFill>
                  <a:srgbClr val="181930"/>
                </a:solidFill>
                <a:latin typeface="Aptos"/>
              </a:defRPr>
            </a:pPr>
            <a:r>
              <a:t>• Code identifiers such as getUserAuthToken and MAX_RETRIES need identifier-aware matching.</a:t>
            </a:r>
          </a:p>
          <a:p>
            <a:pPr>
              <a:spcAft>
                <a:spcPts val="1200"/>
              </a:spcAft>
              <a:defRPr sz="1800">
                <a:solidFill>
                  <a:srgbClr val="181930"/>
                </a:solidFill>
                <a:latin typeface="Aptos"/>
              </a:defRPr>
            </a:pPr>
            <a:r>
              <a:t>• Structural questions such as “Who calls X?” need symbols and call-graph evidence, not embedding similarity alone.</a:t>
            </a:r>
          </a:p>
          <a:p>
            <a:pPr>
              <a:spcAft>
                <a:spcPts val="1200"/>
              </a:spcAft>
              <a:defRPr sz="1800">
                <a:solidFill>
                  <a:srgbClr val="181930"/>
                </a:solidFill>
                <a:latin typeface="Aptos"/>
              </a:defRPr>
            </a:pPr>
            <a:r>
              <a:t>• Re-indexing an entire repository after every commit is wasteful and repeated versions can crowd the top results.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"/>
          <p:cNvSpPr txBox="1">
            <a:spLocks noGrp="1"/>
          </p:cNvSpPr>
          <p:nvPr>
            <p:ph type="title"/>
          </p:nvPr>
        </p:nvSpPr>
        <p:spPr>
          <a:xfrm>
            <a:off x="909917" y="266513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b="1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Our Solutions &amp; Architecture Diagram</a:t>
            </a:r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685800" y="1325880"/>
            <a:ext cx="2011680" cy="36576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1700" b="1">
                <a:solidFill>
                  <a:srgbClr val="6624DC"/>
                </a:solidFill>
                <a:latin typeface="Aptos"/>
              </a:rPr>
              <a:t>Indexing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400800" y="1325880"/>
            <a:ext cx="1828800" cy="36576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1700" b="1">
                <a:solidFill>
                  <a:srgbClr val="6624DC"/>
                </a:solidFill>
                <a:latin typeface="Aptos"/>
              </a:rPr>
              <a:t>Query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640080" y="1783080"/>
            <a:ext cx="1828800" cy="566928"/>
          </a:xfrm>
          <a:prstGeom prst="roundRect">
            <a:avLst/>
          </a:prstGeom>
          <a:solidFill>
            <a:srgbClr val="F5F2FF"/>
          </a:solidFill>
          <a:ln>
            <a:solidFill>
              <a:srgbClr val="662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81930"/>
                </a:solidFill>
                <a:latin typeface="Aptos"/>
              </a:rPr>
              <a:t>Git tree / directory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640080" y="2697480"/>
            <a:ext cx="1828800" cy="566928"/>
          </a:xfrm>
          <a:prstGeom prst="roundRect">
            <a:avLst/>
          </a:prstGeom>
          <a:solidFill>
            <a:srgbClr val="F5F2FF"/>
          </a:solidFill>
          <a:ln>
            <a:solidFill>
              <a:srgbClr val="662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81930"/>
                </a:solidFill>
                <a:latin typeface="Aptos"/>
              </a:rPr>
              <a:t>Changed files only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640080" y="3611880"/>
            <a:ext cx="1828800" cy="566928"/>
          </a:xfrm>
          <a:prstGeom prst="roundRect">
            <a:avLst/>
          </a:prstGeom>
          <a:solidFill>
            <a:srgbClr val="F5F2FF"/>
          </a:solidFill>
          <a:ln>
            <a:solidFill>
              <a:srgbClr val="662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81930"/>
                </a:solidFill>
                <a:latin typeface="Aptos"/>
              </a:rPr>
              <a:t>tree-sitter AST chunks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2880360" y="3611880"/>
            <a:ext cx="1920240" cy="566928"/>
          </a:xfrm>
          <a:prstGeom prst="roundRect">
            <a:avLst/>
          </a:prstGeom>
          <a:solidFill>
            <a:srgbClr val="F5F2FF"/>
          </a:solidFill>
          <a:ln>
            <a:solidFill>
              <a:srgbClr val="662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81930"/>
                </a:solidFill>
                <a:latin typeface="Aptos"/>
              </a:rPr>
              <a:t>Multi-view representations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2880360" y="4526280"/>
            <a:ext cx="1920240" cy="658368"/>
          </a:xfrm>
          <a:prstGeom prst="roundRect">
            <a:avLst/>
          </a:prstGeom>
          <a:solidFill>
            <a:srgbClr val="F5F2FF"/>
          </a:solidFill>
          <a:ln>
            <a:solidFill>
              <a:srgbClr val="662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81930"/>
                </a:solidFill>
                <a:latin typeface="Aptos"/>
              </a:rPr>
              <a:t>Dense • BM25 • Symbols • Graph</a:t>
            </a:r>
          </a:p>
        </p:txBody>
      </p:sp>
      <p:cxnSp>
        <p:nvCxnSpPr>
          <p:cNvPr id="122" name="Connector 121"/>
          <p:cNvCxnSpPr/>
          <p:nvPr/>
        </p:nvCxnSpPr>
        <p:spPr>
          <a:xfrm>
            <a:off x="1554480" y="2350008"/>
            <a:ext cx="0" cy="347472"/>
          </a:xfrm>
          <a:prstGeom prst="line">
            <a:avLst/>
          </a:prstGeom>
          <a:ln w="17780">
            <a:solidFill>
              <a:srgbClr val="5C5D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1554480" y="3264408"/>
            <a:ext cx="0" cy="347472"/>
          </a:xfrm>
          <a:prstGeom prst="line">
            <a:avLst/>
          </a:prstGeom>
          <a:ln w="17780">
            <a:solidFill>
              <a:srgbClr val="5C5D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2468880" y="3895344"/>
            <a:ext cx="411480" cy="0"/>
          </a:xfrm>
          <a:prstGeom prst="line">
            <a:avLst/>
          </a:prstGeom>
          <a:ln w="17780">
            <a:solidFill>
              <a:srgbClr val="5C5D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3840480" y="4178808"/>
            <a:ext cx="0" cy="347472"/>
          </a:xfrm>
          <a:prstGeom prst="line">
            <a:avLst/>
          </a:prstGeom>
          <a:ln w="17780">
            <a:solidFill>
              <a:srgbClr val="5C5D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Rounded Rectangle 125"/>
          <p:cNvSpPr/>
          <p:nvPr/>
        </p:nvSpPr>
        <p:spPr>
          <a:xfrm>
            <a:off x="6400800" y="1783080"/>
            <a:ext cx="1828800" cy="566928"/>
          </a:xfrm>
          <a:prstGeom prst="roundRect">
            <a:avLst/>
          </a:prstGeom>
          <a:solidFill>
            <a:srgbClr val="F5F2FF"/>
          </a:solidFill>
          <a:ln>
            <a:solidFill>
              <a:srgbClr val="662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81930"/>
                </a:solidFill>
                <a:latin typeface="Aptos"/>
              </a:rPr>
              <a:t>Natural-language query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6400800" y="2697480"/>
            <a:ext cx="1828800" cy="566928"/>
          </a:xfrm>
          <a:prstGeom prst="roundRect">
            <a:avLst/>
          </a:prstGeom>
          <a:solidFill>
            <a:srgbClr val="F5F2FF"/>
          </a:solidFill>
          <a:ln>
            <a:solidFill>
              <a:srgbClr val="662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dirty="0">
                <a:solidFill>
                  <a:srgbClr val="181930"/>
                </a:solidFill>
                <a:latin typeface="Aptos"/>
              </a:rPr>
              <a:t>Intent + symbol candidates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8732520" y="2697480"/>
            <a:ext cx="2148840" cy="658368"/>
          </a:xfrm>
          <a:prstGeom prst="roundRect">
            <a:avLst/>
          </a:prstGeom>
          <a:solidFill>
            <a:srgbClr val="F5F2FF"/>
          </a:solidFill>
          <a:ln>
            <a:solidFill>
              <a:srgbClr val="662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81930"/>
                </a:solidFill>
                <a:latin typeface="Aptos"/>
              </a:rPr>
              <a:t>Hybrid retrieval + graph expansion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8732520" y="3703320"/>
            <a:ext cx="2148840" cy="658368"/>
          </a:xfrm>
          <a:prstGeom prst="roundRect">
            <a:avLst/>
          </a:prstGeom>
          <a:solidFill>
            <a:srgbClr val="F5F2FF"/>
          </a:solidFill>
          <a:ln>
            <a:solidFill>
              <a:srgbClr val="662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81930"/>
                </a:solidFill>
                <a:latin typeface="Aptos"/>
              </a:rPr>
              <a:t>Weighted RRF + optional reranker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6400800" y="4617720"/>
            <a:ext cx="1828800" cy="658368"/>
          </a:xfrm>
          <a:prstGeom prst="roundRect">
            <a:avLst/>
          </a:prstGeom>
          <a:solidFill>
            <a:srgbClr val="F5F2FF"/>
          </a:solidFill>
          <a:ln>
            <a:solidFill>
              <a:srgbClr val="662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81930"/>
                </a:solidFill>
                <a:latin typeface="Aptos"/>
              </a:rPr>
              <a:t>Structural scoring + dedup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8732520" y="4617720"/>
            <a:ext cx="2148840" cy="658368"/>
          </a:xfrm>
          <a:prstGeom prst="roundRect">
            <a:avLst/>
          </a:prstGeom>
          <a:solidFill>
            <a:srgbClr val="F5F2FF"/>
          </a:solidFill>
          <a:ln>
            <a:solidFill>
              <a:srgbClr val="662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81930"/>
                </a:solidFill>
                <a:latin typeface="Aptos"/>
              </a:rPr>
              <a:t>Top-k + provenance</a:t>
            </a:r>
          </a:p>
        </p:txBody>
      </p:sp>
      <p:cxnSp>
        <p:nvCxnSpPr>
          <p:cNvPr id="132" name="Connector 131"/>
          <p:cNvCxnSpPr/>
          <p:nvPr/>
        </p:nvCxnSpPr>
        <p:spPr>
          <a:xfrm>
            <a:off x="7315200" y="2350008"/>
            <a:ext cx="0" cy="347472"/>
          </a:xfrm>
          <a:prstGeom prst="line">
            <a:avLst/>
          </a:prstGeom>
          <a:ln w="17780">
            <a:solidFill>
              <a:srgbClr val="5C5D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8229600" y="2980944"/>
            <a:ext cx="502920" cy="0"/>
          </a:xfrm>
          <a:prstGeom prst="line">
            <a:avLst/>
          </a:prstGeom>
          <a:ln w="17780">
            <a:solidFill>
              <a:srgbClr val="5C5D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9802368" y="3355848"/>
            <a:ext cx="0" cy="347472"/>
          </a:xfrm>
          <a:prstGeom prst="line">
            <a:avLst/>
          </a:prstGeom>
          <a:ln w="17780">
            <a:solidFill>
              <a:srgbClr val="5C5D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H="1">
            <a:off x="8229600" y="4032504"/>
            <a:ext cx="502920" cy="905256"/>
          </a:xfrm>
          <a:prstGeom prst="line">
            <a:avLst/>
          </a:prstGeom>
          <a:ln w="17780">
            <a:solidFill>
              <a:srgbClr val="5C5D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>
            <a:off x="8229600" y="4946904"/>
            <a:ext cx="502920" cy="0"/>
          </a:xfrm>
          <a:prstGeom prst="line">
            <a:avLst/>
          </a:prstGeom>
          <a:ln w="17780">
            <a:solidFill>
              <a:srgbClr val="5C5D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b="1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Demo &amp; Product Walkthrough</a:t>
            </a:r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768096" y="1646555"/>
            <a:ext cx="10424160" cy="4846320"/>
          </a:xfrm>
          <a:prstGeom prst="rect">
            <a:avLst/>
          </a:prstGeom>
          <a:noFill/>
        </p:spPr>
        <p:txBody>
          <a:bodyPr wrap="square" lIns="76200" rIns="76200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181930"/>
                </a:solidFill>
                <a:latin typeface="Aptos"/>
              </a:defRPr>
            </a:pPr>
            <a:r>
              <a:rPr dirty="0"/>
              <a:t>• Index a repository: python scripts/index_repo.py &lt;repo-path&gt;</a:t>
            </a:r>
          </a:p>
          <a:p>
            <a:pPr>
              <a:spcAft>
                <a:spcPts val="1200"/>
              </a:spcAft>
              <a:defRPr sz="1700">
                <a:solidFill>
                  <a:srgbClr val="181930"/>
                </a:solidFill>
                <a:latin typeface="Aptos"/>
              </a:defRPr>
            </a:pPr>
            <a:r>
              <a:rPr dirty="0"/>
              <a:t>• Ask a question: python scripts/search.py -q "Who calls </a:t>
            </a:r>
            <a:r>
              <a:rPr dirty="0" err="1"/>
              <a:t>validate_user</a:t>
            </a:r>
            <a:r>
              <a:rPr dirty="0"/>
              <a:t>?"</a:t>
            </a:r>
          </a:p>
          <a:p>
            <a:pPr>
              <a:spcAft>
                <a:spcPts val="1200"/>
              </a:spcAft>
              <a:defRPr sz="1700">
                <a:solidFill>
                  <a:srgbClr val="181930"/>
                </a:solidFill>
                <a:latin typeface="Aptos"/>
              </a:defRPr>
            </a:pPr>
            <a:r>
              <a:rPr dirty="0"/>
              <a:t>• </a:t>
            </a:r>
            <a:r>
              <a:rPr dirty="0" err="1"/>
              <a:t>CodeFusion</a:t>
            </a:r>
            <a:r>
              <a:rPr dirty="0"/>
              <a:t> detects query intent and target symbols, then combines dense, BM25, symbol and graph retrieval.</a:t>
            </a:r>
          </a:p>
          <a:p>
            <a:pPr>
              <a:spcAft>
                <a:spcPts val="1200"/>
              </a:spcAft>
              <a:defRPr sz="1700">
                <a:solidFill>
                  <a:srgbClr val="181930"/>
                </a:solidFill>
                <a:latin typeface="Aptos"/>
              </a:defRPr>
            </a:pPr>
            <a:r>
              <a:rPr dirty="0"/>
              <a:t>• The UI shows ranked code, highlighted snippets, per-stage timing, “Why retrieved” evidence, lineage and call chains.</a:t>
            </a:r>
          </a:p>
          <a:p>
            <a:pPr>
              <a:spcAft>
                <a:spcPts val="1200"/>
              </a:spcAft>
              <a:defRPr sz="1700">
                <a:solidFill>
                  <a:srgbClr val="181930"/>
                </a:solidFill>
                <a:latin typeface="Aptos"/>
              </a:defRPr>
            </a:pPr>
            <a:r>
              <a:rPr dirty="0"/>
              <a:t>• Version-aware search can query latest code, a specific commit, or all indexed versions.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sz="4400" b="1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Tools and tech stack used</a:t>
            </a:r>
            <a:endParaRPr b="1">
              <a:solidFill>
                <a:srgbClr val="704EA6"/>
              </a:solidFill>
            </a:endParaRPr>
          </a:p>
        </p:txBody>
      </p:sp>
      <p:sp>
        <p:nvSpPr>
          <p:cNvPr id="127" name="TextBox 126"/>
          <p:cNvSpPr txBox="1"/>
          <p:nvPr/>
        </p:nvSpPr>
        <p:spPr>
          <a:xfrm>
            <a:off x="838200" y="1755648"/>
            <a:ext cx="10424160" cy="4846320"/>
          </a:xfrm>
          <a:prstGeom prst="rect">
            <a:avLst/>
          </a:prstGeom>
          <a:noFill/>
        </p:spPr>
        <p:txBody>
          <a:bodyPr wrap="square" lIns="76200" rIns="76200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181930"/>
                </a:solidFill>
                <a:latin typeface="Aptos"/>
              </a:defRPr>
            </a:pPr>
            <a:r>
              <a:rPr dirty="0"/>
              <a:t>• Python 3.11 • </a:t>
            </a:r>
            <a:r>
              <a:rPr dirty="0" err="1"/>
              <a:t>FastAPI</a:t>
            </a:r>
            <a:r>
              <a:rPr dirty="0"/>
              <a:t> • </a:t>
            </a:r>
            <a:r>
              <a:rPr dirty="0" err="1"/>
              <a:t>pytest</a:t>
            </a:r>
            <a:endParaRPr dirty="0"/>
          </a:p>
          <a:p>
            <a:pPr>
              <a:spcAft>
                <a:spcPts val="1200"/>
              </a:spcAft>
              <a:defRPr sz="1700">
                <a:solidFill>
                  <a:srgbClr val="181930"/>
                </a:solidFill>
                <a:latin typeface="Aptos"/>
              </a:defRPr>
            </a:pPr>
            <a:r>
              <a:rPr dirty="0"/>
              <a:t>• tree-sitter parsing with AST/regex fallbacks</a:t>
            </a:r>
          </a:p>
          <a:p>
            <a:pPr>
              <a:spcAft>
                <a:spcPts val="1200"/>
              </a:spcAft>
              <a:defRPr sz="1700">
                <a:solidFill>
                  <a:srgbClr val="181930"/>
                </a:solidFill>
                <a:latin typeface="Aptos"/>
              </a:defRPr>
            </a:pPr>
            <a:r>
              <a:rPr dirty="0"/>
              <a:t>• Jina Code Embeddings • FAISS</a:t>
            </a:r>
          </a:p>
          <a:p>
            <a:pPr>
              <a:spcAft>
                <a:spcPts val="1200"/>
              </a:spcAft>
              <a:defRPr sz="1700">
                <a:solidFill>
                  <a:srgbClr val="181930"/>
                </a:solidFill>
                <a:latin typeface="Aptos"/>
              </a:defRPr>
            </a:pPr>
            <a:r>
              <a:rPr dirty="0"/>
              <a:t>• bm25s identifier-aware lexical retrieval</a:t>
            </a:r>
          </a:p>
          <a:p>
            <a:pPr>
              <a:spcAft>
                <a:spcPts val="1200"/>
              </a:spcAft>
              <a:defRPr sz="1700">
                <a:solidFill>
                  <a:srgbClr val="181930"/>
                </a:solidFill>
                <a:latin typeface="Aptos"/>
              </a:defRPr>
            </a:pPr>
            <a:r>
              <a:rPr dirty="0"/>
              <a:t>• </a:t>
            </a:r>
            <a:r>
              <a:rPr dirty="0" err="1"/>
              <a:t>rustworkx</a:t>
            </a:r>
            <a:r>
              <a:rPr dirty="0"/>
              <a:t> code graph with </a:t>
            </a:r>
            <a:r>
              <a:rPr dirty="0" err="1"/>
              <a:t>NetworkX</a:t>
            </a:r>
            <a:r>
              <a:rPr dirty="0"/>
              <a:t> fallback</a:t>
            </a:r>
          </a:p>
          <a:p>
            <a:pPr>
              <a:spcAft>
                <a:spcPts val="1200"/>
              </a:spcAft>
              <a:defRPr sz="1700">
                <a:solidFill>
                  <a:srgbClr val="181930"/>
                </a:solidFill>
                <a:latin typeface="Aptos"/>
              </a:defRPr>
            </a:pPr>
            <a:r>
              <a:rPr dirty="0"/>
              <a:t>• SQLite + Parquet artifact storage</a:t>
            </a:r>
          </a:p>
          <a:p>
            <a:pPr>
              <a:spcAft>
                <a:spcPts val="1200"/>
              </a:spcAft>
              <a:defRPr sz="1700">
                <a:solidFill>
                  <a:srgbClr val="181930"/>
                </a:solidFill>
                <a:latin typeface="Aptos"/>
              </a:defRPr>
            </a:pPr>
            <a:r>
              <a:rPr dirty="0"/>
              <a:t>• React + </a:t>
            </a:r>
            <a:r>
              <a:rPr dirty="0" err="1"/>
              <a:t>Vite</a:t>
            </a:r>
            <a:r>
              <a:rPr dirty="0"/>
              <a:t> + TypeScript frontend</a:t>
            </a:r>
          </a:p>
          <a:p>
            <a:pPr>
              <a:spcAft>
                <a:spcPts val="1200"/>
              </a:spcAft>
              <a:defRPr sz="1700">
                <a:solidFill>
                  <a:srgbClr val="181930"/>
                </a:solidFill>
                <a:latin typeface="Aptos"/>
              </a:defRPr>
            </a:pPr>
            <a:r>
              <a:rPr dirty="0"/>
              <a:t>• Docker / Docker Compose; optional Neo4j and </a:t>
            </a:r>
            <a:r>
              <a:rPr dirty="0" err="1"/>
              <a:t>Joern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sz="4400" b="1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Impact &amp; Use case</a:t>
            </a:r>
            <a:endParaRPr b="1">
              <a:solidFill>
                <a:srgbClr val="704EA6"/>
              </a:solidFill>
            </a:endParaRPr>
          </a:p>
        </p:txBody>
      </p:sp>
      <p:sp>
        <p:nvSpPr>
          <p:cNvPr id="133" name="TextBox 132"/>
          <p:cNvSpPr txBox="1"/>
          <p:nvPr/>
        </p:nvSpPr>
        <p:spPr>
          <a:xfrm>
            <a:off x="838200" y="1646555"/>
            <a:ext cx="10424160" cy="4846320"/>
          </a:xfrm>
          <a:prstGeom prst="rect">
            <a:avLst/>
          </a:prstGeom>
          <a:noFill/>
        </p:spPr>
        <p:txBody>
          <a:bodyPr wrap="square" lIns="76200" rIns="76200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181930"/>
                </a:solidFill>
                <a:latin typeface="Aptos"/>
              </a:defRPr>
            </a:pPr>
            <a:r>
              <a:rPr dirty="0"/>
              <a:t>• Developer code search: locate implementations, definitions, usages, callers, callees, dependencies and configuration.</a:t>
            </a:r>
          </a:p>
          <a:p>
            <a:pPr>
              <a:spcAft>
                <a:spcPts val="1200"/>
              </a:spcAft>
              <a:defRPr sz="1700">
                <a:solidFill>
                  <a:srgbClr val="181930"/>
                </a:solidFill>
                <a:latin typeface="Aptos"/>
              </a:defRPr>
            </a:pPr>
            <a:r>
              <a:rPr dirty="0"/>
              <a:t>• Repository understanding: retrieve code using lexical, semantic and structural evidence together.</a:t>
            </a:r>
          </a:p>
          <a:p>
            <a:pPr>
              <a:spcAft>
                <a:spcPts val="1200"/>
              </a:spcAft>
              <a:defRPr sz="1700">
                <a:solidFill>
                  <a:srgbClr val="181930"/>
                </a:solidFill>
                <a:latin typeface="Aptos"/>
              </a:defRPr>
            </a:pPr>
            <a:r>
              <a:rPr dirty="0"/>
              <a:t>• Version-aware maintenance: search historical code and track functions across edits, moves and renames.</a:t>
            </a:r>
          </a:p>
          <a:p>
            <a:pPr>
              <a:spcAft>
                <a:spcPts val="1200"/>
              </a:spcAft>
              <a:defRPr sz="1700">
                <a:solidFill>
                  <a:srgbClr val="181930"/>
                </a:solidFill>
                <a:latin typeface="Aptos"/>
              </a:defRPr>
            </a:pPr>
            <a:r>
              <a:rPr dirty="0"/>
              <a:t>• Explainable retrieval: every result exposes retriever ranks, fusion contributions, graph/structural evidence and timings.</a:t>
            </a:r>
          </a:p>
          <a:p>
            <a:pPr>
              <a:spcAft>
                <a:spcPts val="1200"/>
              </a:spcAft>
              <a:defRPr sz="1700">
                <a:solidFill>
                  <a:srgbClr val="181930"/>
                </a:solidFill>
                <a:latin typeface="Aptos"/>
              </a:defRPr>
            </a:pPr>
            <a:r>
              <a:rPr dirty="0"/>
              <a:t>• CPU-first deployment: core search does not require an API key, GPU, Neo4j, </a:t>
            </a:r>
            <a:r>
              <a:rPr dirty="0" err="1"/>
              <a:t>Joern</a:t>
            </a:r>
            <a:r>
              <a:rPr dirty="0"/>
              <a:t> or an external service.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sz="4400" b="1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Innovation highlights, results and limitations</a:t>
            </a:r>
            <a:endParaRPr sz="4400" b="1">
              <a:solidFill>
                <a:srgbClr val="704EA6"/>
              </a:solidFill>
            </a:endParaRPr>
          </a:p>
        </p:txBody>
      </p:sp>
      <p:sp>
        <p:nvSpPr>
          <p:cNvPr id="139" name="TextBox 138"/>
          <p:cNvSpPr txBox="1"/>
          <p:nvPr/>
        </p:nvSpPr>
        <p:spPr>
          <a:xfrm>
            <a:off x="1024128" y="1783080"/>
            <a:ext cx="2286000" cy="41148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2000" b="1" dirty="0">
                <a:solidFill>
                  <a:srgbClr val="6624DC"/>
                </a:solidFill>
                <a:latin typeface="Aptos"/>
              </a:rPr>
              <a:t>Highlights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929640" y="2944368"/>
            <a:ext cx="10424160" cy="4389120"/>
          </a:xfrm>
          <a:prstGeom prst="rect">
            <a:avLst/>
          </a:prstGeom>
          <a:noFill/>
        </p:spPr>
        <p:txBody>
          <a:bodyPr wrap="square" lIns="76200" rIns="76200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181930"/>
                </a:solidFill>
                <a:latin typeface="Aptos"/>
              </a:defRPr>
            </a:pPr>
            <a:r>
              <a:t>• AST-boundary chunking instead of fixed text windows.</a:t>
            </a:r>
          </a:p>
          <a:p>
            <a:pPr>
              <a:spcAft>
                <a:spcPts val="1200"/>
              </a:spcAft>
              <a:defRPr sz="1600">
                <a:solidFill>
                  <a:srgbClr val="181930"/>
                </a:solidFill>
                <a:latin typeface="Aptos"/>
              </a:defRPr>
            </a:pPr>
            <a:r>
              <a:t>• Identifier-aware BM25 + symbol index + code graph + dense retrieval.</a:t>
            </a:r>
          </a:p>
          <a:p>
            <a:pPr>
              <a:spcAft>
                <a:spcPts val="1200"/>
              </a:spcAft>
              <a:defRPr sz="1600">
                <a:solidFill>
                  <a:srgbClr val="181930"/>
                </a:solidFill>
                <a:latin typeface="Aptos"/>
              </a:defRPr>
            </a:pPr>
            <a:r>
              <a:t>• Intent-adaptive fusion, optional reranking, structural scoring and lineage-aware deduplication.</a:t>
            </a:r>
          </a:p>
          <a:p>
            <a:pPr>
              <a:spcAft>
                <a:spcPts val="1200"/>
              </a:spcAft>
              <a:defRPr sz="1600">
                <a:solidFill>
                  <a:srgbClr val="181930"/>
                </a:solidFill>
                <a:latin typeface="Aptos"/>
              </a:defRPr>
            </a:pPr>
            <a:r>
              <a:t>• Incremental indexing: only changed code is parsed/embedded; unchanged snippets are reused.</a:t>
            </a:r>
          </a:p>
          <a:p>
            <a:pPr>
              <a:spcAft>
                <a:spcPts val="1200"/>
              </a:spcAft>
              <a:defRPr sz="1600">
                <a:solidFill>
                  <a:srgbClr val="181930"/>
                </a:solidFill>
                <a:latin typeface="Aptos"/>
              </a:defRPr>
            </a:pPr>
            <a:r>
              <a:t>• Full AppsRetrieval: NDCG@10 0.8379, MRR@10 0.8074, Recall@100 0.9849.</a:t>
            </a:r>
          </a:p>
          <a:p>
            <a:pPr>
              <a:spcAft>
                <a:spcPts val="1200"/>
              </a:spcAft>
              <a:defRPr sz="1600">
                <a:solidFill>
                  <a:srgbClr val="181930"/>
                </a:solidFill>
                <a:latin typeface="Aptos"/>
              </a:defRPr>
            </a:pPr>
            <a:r>
              <a:t>• Measured limitation: several hybrid ablations underperform the dense baseline on AppsRetrieval; graph/late-interaction/Joern are not claimed as improvements without measurement.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sz="4400" b="1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What’s next</a:t>
            </a:r>
            <a:endParaRPr sz="4400" b="1">
              <a:solidFill>
                <a:srgbClr val="704EA6"/>
              </a:solidFill>
            </a:endParaRPr>
          </a:p>
        </p:txBody>
      </p:sp>
      <p:sp>
        <p:nvSpPr>
          <p:cNvPr id="145" name="TextBox 144"/>
          <p:cNvSpPr txBox="1"/>
          <p:nvPr/>
        </p:nvSpPr>
        <p:spPr>
          <a:xfrm>
            <a:off x="838200" y="1563624"/>
            <a:ext cx="10424160" cy="4846320"/>
          </a:xfrm>
          <a:prstGeom prst="rect">
            <a:avLst/>
          </a:prstGeom>
          <a:noFill/>
        </p:spPr>
        <p:txBody>
          <a:bodyPr wrap="square" lIns="76200" rIns="76200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81930"/>
                </a:solidFill>
                <a:latin typeface="Aptos"/>
              </a:defRPr>
            </a:pPr>
            <a:r>
              <a:rPr dirty="0"/>
              <a:t>• Continue measuring graph, query-adaptive weighting, diversity/MMR, late interaction and </a:t>
            </a:r>
            <a:r>
              <a:rPr dirty="0" err="1"/>
              <a:t>Joern</a:t>
            </a:r>
            <a:r>
              <a:rPr dirty="0"/>
              <a:t> on the full benchmark.</a:t>
            </a:r>
          </a:p>
          <a:p>
            <a:pPr>
              <a:spcAft>
                <a:spcPts val="1200"/>
              </a:spcAft>
              <a:defRPr sz="1800">
                <a:solidFill>
                  <a:srgbClr val="181930"/>
                </a:solidFill>
                <a:latin typeface="Aptos"/>
              </a:defRPr>
            </a:pPr>
            <a:r>
              <a:rPr dirty="0"/>
              <a:t>• Improve repository-search quality while keeping the measured P0 configuration evidence-driven.</a:t>
            </a:r>
          </a:p>
          <a:p>
            <a:pPr>
              <a:spcAft>
                <a:spcPts val="1200"/>
              </a:spcAft>
              <a:defRPr sz="1800">
                <a:solidFill>
                  <a:srgbClr val="181930"/>
                </a:solidFill>
                <a:latin typeface="Aptos"/>
              </a:defRPr>
            </a:pPr>
            <a:r>
              <a:rPr dirty="0"/>
              <a:t>• Extend version/evolution evaluation to larger real Git histories.</a:t>
            </a:r>
          </a:p>
          <a:p>
            <a:pPr>
              <a:spcAft>
                <a:spcPts val="1200"/>
              </a:spcAft>
              <a:defRPr sz="1800">
                <a:solidFill>
                  <a:srgbClr val="181930"/>
                </a:solidFill>
                <a:latin typeface="Aptos"/>
              </a:defRPr>
            </a:pPr>
            <a:r>
              <a:rPr dirty="0"/>
              <a:t>• Keep optional components modular so they can be enabled only when they provide measured value.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sz="4400" b="1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Brownie points slide( differentiation)</a:t>
            </a:r>
            <a:endParaRPr sz="4400" b="1">
              <a:solidFill>
                <a:srgbClr val="704EA6"/>
              </a:solidFill>
            </a:endParaRPr>
          </a:p>
        </p:txBody>
      </p:sp>
      <p:sp>
        <p:nvSpPr>
          <p:cNvPr id="151" name="TextBox 150"/>
          <p:cNvSpPr txBox="1"/>
          <p:nvPr/>
        </p:nvSpPr>
        <p:spPr>
          <a:xfrm>
            <a:off x="838200" y="1527048"/>
            <a:ext cx="10424160" cy="4846320"/>
          </a:xfrm>
          <a:prstGeom prst="rect">
            <a:avLst/>
          </a:prstGeom>
          <a:noFill/>
        </p:spPr>
        <p:txBody>
          <a:bodyPr wrap="square" lIns="76200" rIns="76200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181930"/>
                </a:solidFill>
                <a:latin typeface="Aptos"/>
              </a:defRPr>
            </a:pPr>
            <a:r>
              <a:rPr dirty="0"/>
              <a:t>• Retrieval engine, not an answer generator: returns real code with provenance.</a:t>
            </a:r>
          </a:p>
          <a:p>
            <a:pPr>
              <a:spcAft>
                <a:spcPts val="1200"/>
              </a:spcAft>
              <a:defRPr sz="1700">
                <a:solidFill>
                  <a:srgbClr val="181930"/>
                </a:solidFill>
                <a:latin typeface="Aptos"/>
              </a:defRPr>
            </a:pPr>
            <a:r>
              <a:rPr lang="en-US" dirty="0"/>
              <a:t>• Code-aware parsing, identifier processing, symbols and call-graph structure.</a:t>
            </a:r>
          </a:p>
          <a:p>
            <a:pPr>
              <a:spcAft>
                <a:spcPts val="1200"/>
              </a:spcAft>
              <a:defRPr sz="1700">
                <a:solidFill>
                  <a:srgbClr val="181930"/>
                </a:solidFill>
                <a:latin typeface="Aptos"/>
              </a:defRPr>
            </a:pPr>
            <a:r>
              <a:rPr dirty="0"/>
              <a:t>• Intent-aware retrieval for caller/callee/definition/data-flow/evolution questions.</a:t>
            </a:r>
          </a:p>
          <a:p>
            <a:pPr>
              <a:spcAft>
                <a:spcPts val="1200"/>
              </a:spcAft>
              <a:defRPr sz="1700">
                <a:solidFill>
                  <a:srgbClr val="181930"/>
                </a:solidFill>
                <a:latin typeface="Aptos"/>
              </a:defRPr>
            </a:pPr>
            <a:r>
              <a:rPr dirty="0"/>
              <a:t>• Temporal indexing and lineage tracking across commits, renames and moves.</a:t>
            </a:r>
          </a:p>
          <a:p>
            <a:pPr>
              <a:spcAft>
                <a:spcPts val="1200"/>
              </a:spcAft>
              <a:defRPr sz="1700">
                <a:solidFill>
                  <a:srgbClr val="181930"/>
                </a:solidFill>
                <a:latin typeface="Aptos"/>
              </a:defRPr>
            </a:pPr>
            <a:r>
              <a:rPr dirty="0"/>
              <a:t>• Transparent ablations and stored measured results instead of unverified improvement claims.</a:t>
            </a:r>
          </a:p>
          <a:p>
            <a:pPr>
              <a:spcAft>
                <a:spcPts val="1200"/>
              </a:spcAft>
              <a:defRPr sz="1700">
                <a:solidFill>
                  <a:srgbClr val="181930"/>
                </a:solidFill>
                <a:latin typeface="Aptos"/>
              </a:defRPr>
            </a:pPr>
            <a:r>
              <a:rPr dirty="0"/>
              <a:t>• Reproducible CPU-first setup with API, frontend, Docker, tests and evaluation artifacts.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b="1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Checklist- Updated on Public GitHub</a:t>
            </a:r>
            <a:endParaRPr/>
          </a:p>
        </p:txBody>
      </p:sp>
      <p:sp>
        <p:nvSpPr>
          <p:cNvPr id="156" name="Google Shape;156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sz="1700" dirty="0">
                <a:solidFill>
                  <a:srgbClr val="181930"/>
                </a:solidFill>
                <a:latin typeface="Aptos"/>
              </a:rPr>
              <a:t>Working prototype code — public or shared GitHub repo (Y/N): Y</a:t>
            </a:r>
          </a:p>
          <a:p>
            <a:r>
              <a:rPr sz="1700" dirty="0">
                <a:solidFill>
                  <a:srgbClr val="181930"/>
                </a:solidFill>
                <a:latin typeface="Aptos"/>
              </a:rPr>
              <a:t>README with reproducible setup instructions (Y/N): Y</a:t>
            </a:r>
          </a:p>
          <a:p>
            <a:r>
              <a:rPr sz="1700" dirty="0">
                <a:solidFill>
                  <a:srgbClr val="181930"/>
                </a:solidFill>
                <a:latin typeface="Aptos"/>
              </a:rPr>
              <a:t>Demo video, max 5 minutes (YouTube or Drive link): —</a:t>
            </a:r>
            <a:r>
              <a:rPr lang="en-IN" sz="1700" dirty="0">
                <a:solidFill>
                  <a:srgbClr val="181930"/>
                </a:solidFill>
                <a:latin typeface="Aptos"/>
              </a:rPr>
              <a:t> </a:t>
            </a:r>
            <a:r>
              <a:rPr lang="en-IN" sz="1700" dirty="0">
                <a:solidFill>
                  <a:srgbClr val="181930"/>
                </a:solidFill>
                <a:latin typeface="Aptos"/>
                <a:hlinkClick r:id="rId3"/>
              </a:rPr>
              <a:t>https://youtu.be/5LdTcgO6PW4</a:t>
            </a:r>
            <a:endParaRPr sz="1700" dirty="0">
              <a:solidFill>
                <a:srgbClr val="181930"/>
              </a:solidFill>
              <a:latin typeface="Aptos"/>
            </a:endParaRPr>
          </a:p>
          <a:p>
            <a:r>
              <a:rPr sz="1700" dirty="0">
                <a:solidFill>
                  <a:srgbClr val="181930"/>
                </a:solidFill>
                <a:latin typeface="Aptos"/>
              </a:rPr>
              <a:t>Presentation file (PPT or PDF) (Y/N): 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2"/>
          <p:cNvSpPr txBox="1"/>
          <p:nvPr/>
        </p:nvSpPr>
        <p:spPr>
          <a:xfrm>
            <a:off x="1046181" y="3730214"/>
            <a:ext cx="676656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4600"/>
              <a:buFont typeface="Arial"/>
              <a:buNone/>
            </a:pPr>
            <a:r>
              <a:rPr lang="en-US" sz="4600" b="1" i="0" u="none" strike="noStrike" cap="none">
                <a:solidFill>
                  <a:srgbClr val="14142B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sz="4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2"/>
          <p:cNvSpPr txBox="1"/>
          <p:nvPr/>
        </p:nvSpPr>
        <p:spPr>
          <a:xfrm>
            <a:off x="777240" y="5897880"/>
            <a:ext cx="106070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3637E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Organised by the Language AI Team and the PRISM Team, Samsung R&amp;D Institute India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930</Words>
  <Application>Microsoft Office PowerPoint</Application>
  <PresentationFormat>Widescreen</PresentationFormat>
  <Paragraphs>87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Arial</vt:lpstr>
      <vt:lpstr>Calibri</vt:lpstr>
      <vt:lpstr>Office Theme</vt:lpstr>
      <vt:lpstr>PowerPoint Presentation</vt:lpstr>
      <vt:lpstr>Theme</vt:lpstr>
      <vt:lpstr>Existing Solutions &amp; Gaps</vt:lpstr>
      <vt:lpstr>Our Solutions &amp; Architecture Diagram</vt:lpstr>
      <vt:lpstr>Demo &amp; Product Walkthrough</vt:lpstr>
      <vt:lpstr>Tools and tech stack used</vt:lpstr>
      <vt:lpstr>Impact &amp; Use case</vt:lpstr>
      <vt:lpstr>Innovation highlights, results and limitations</vt:lpstr>
      <vt:lpstr>What’s next</vt:lpstr>
      <vt:lpstr>Brownie points slide( differentiation)</vt:lpstr>
      <vt:lpstr>Checklist- Updated on Public GitHub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Binny Lakra/PRISM /SRI-Bangalore/Professional/Samsung Electronics</dc:creator>
  <cp:lastModifiedBy>ABHAS BALI (RA2311003012353)</cp:lastModifiedBy>
  <cp:revision>2</cp:revision>
  <dcterms:created xsi:type="dcterms:W3CDTF">2026-09-07T12:01:01Z</dcterms:created>
  <dcterms:modified xsi:type="dcterms:W3CDTF">2026-09-27T17:13:35Z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</Properties>
</file>